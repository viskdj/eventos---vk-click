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8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0" y="5303520"/>
            <a:ext cx="13716000" cy="2286000"/>
          </a:xfrm>
          <a:prstGeom prst="rect">
            <a:avLst/>
          </a:prstGeom>
          <a:solidFill>
            <a:srgbClr val="12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Arial"/>
              </a:rPr>
              <a:t>VK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00E5FF"/>
                </a:solidFill>
                <a:latin typeface="Arial"/>
              </a:rPr>
              <a:t>Aplicativo de Eventos — Conectando pessoas às experiências e entre 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1500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9C9E2"/>
                </a:solidFill>
                <a:latin typeface="Arial"/>
              </a:rPr>
              <a:t>“O evento certo, as pessoas certas, tudo a um toque de distância.”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7A7A9E"/>
                </a:solidFill>
                <a:latin typeface="Arial"/>
              </a:rPr>
              <a:t>Apresentação do Projeto  •  Equipe de Desenvolvimento  •  Out/2026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556" y="1025641"/>
            <a:ext cx="3191320" cy="2886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O Projeto VK CLICK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Relatório de apresentação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Arial"/>
              </a:rPr>
              <a:t>O VK CLICK é um aplicativo de eventos que vai além da simples divulgação: ele conecta pessoas às experiências e também entre 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67665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9C9E2"/>
                </a:solidFill>
                <a:latin typeface="Arial"/>
              </a:rPr>
              <a:t>Descubra shows, festas, palestras e encontros próximos, compre ingressos com segurança e saiba quem vai estar presente — podendo conversar e formar grupos antes mesmo do evento acontecer. Para organizadores, é a ferramenta ideal para publicar, gerenciar e alcançar mais público.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417320"/>
            <a:ext cx="3886200" cy="1078992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417320"/>
            <a:ext cx="91440" cy="107899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4152" y="1527048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Arial"/>
              </a:rPr>
              <a:t>Descoberta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87452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9E2"/>
                </a:solidFill>
                <a:latin typeface="Arial"/>
              </a:rPr>
              <a:t>Eventos próximos por local e interesse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660904"/>
            <a:ext cx="3886200" cy="1078992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FF2D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2660904"/>
            <a:ext cx="91440" cy="1078992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74152" y="2770632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2D95"/>
                </a:solidFill>
                <a:latin typeface="Arial"/>
              </a:rPr>
              <a:t>Ingresso Seguro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3118104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9E2"/>
                </a:solidFill>
                <a:latin typeface="Arial"/>
              </a:rPr>
              <a:t>Compra digital com pagamento por cartão ou PIX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904488"/>
            <a:ext cx="3886200" cy="1078992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B1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3904488"/>
            <a:ext cx="91440" cy="1078992"/>
          </a:xfrm>
          <a:prstGeom prst="rect">
            <a:avLst/>
          </a:prstGeom>
          <a:solidFill>
            <a:srgbClr val="B1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74152" y="4014216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14AFF"/>
                </a:solidFill>
                <a:latin typeface="Arial"/>
              </a:rPr>
              <a:t>Conexão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4361688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9E2"/>
                </a:solidFill>
                <a:latin typeface="Arial"/>
              </a:rPr>
              <a:t>Veja quem vai e interaja antes do evento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5148072"/>
            <a:ext cx="3886200" cy="1078992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39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18120" y="5148072"/>
            <a:ext cx="91440" cy="1078992"/>
          </a:xfrm>
          <a:prstGeom prst="rect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74152" y="525780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9FF88"/>
                </a:solidFill>
                <a:latin typeface="Arial"/>
              </a:rPr>
              <a:t>Gestão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5605272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9E2"/>
                </a:solidFill>
                <a:latin typeface="Arial"/>
              </a:rPr>
              <a:t>Organizadores publicam e acompanham vendas em tempo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9496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60A"/>
                </a:solidFill>
                <a:latin typeface="Arial"/>
              </a:rPr>
              <a:t>Propósito: tornar cada encontro mais acessível, animado e conectado.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Problemas e Soluções — 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Cadastro, Segurança, Conformidade e Busca de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Área</a:t>
                      </a:r>
                    </a:p>
                  </a:txBody>
                  <a:tcPr marL="73152" marR="73152" marT="36576" marB="36576" anchor="ctr">
                    <a:solidFill>
                      <a:srgbClr val="FF2D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Problema</a:t>
                      </a:r>
                    </a:p>
                  </a:txBody>
                  <a:tcPr marL="73152" marR="73152" marT="36576" marB="36576" anchor="ctr">
                    <a:solidFill>
                      <a:srgbClr val="FF2D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Solução</a:t>
                      </a:r>
                    </a:p>
                  </a:txBody>
                  <a:tcPr marL="73152" marR="73152" marT="36576" marB="36576" anchor="ctr">
                    <a:solidFill>
                      <a:srgbClr val="FF2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Cadastro &amp; Segurança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Dados pessoais expostos ou usados indevidamente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Hash irreversível em senhas; termo de consentimento claro; proteção por padrão (LGPD)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Cadastro &amp; Segurança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Usuários não concluem o cadastro (campos vazios / CPF-e-mail repetido)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Validação em tempo real com destaque visual; mensagem específica e direcionamento à recuperação de acesso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Cadastro &amp; Segurança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Sem distinção entre perfil de participante e organizador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Fluxos de cadastro separados com permissões próprias; validação de dados empresariais antes de publicar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Busca &amp; Descoberta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Resultados lentos ou irrelevantes levam à desistência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Resultados em até 2s; filtros combinados (palavra-chave, categoria, data, cidade, preço); ordenação por relevância ou data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Busca &amp; Descoberta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Nenhum evento encontrado → tela vazia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Aviso amigável + sugestões alternativas de categorias, datas e locais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Busca &amp; Descoberta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Informações desatualizadas ou incompletas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Validação obrigatória antes de publicar; dados em tempo real; botão de compra oculto sem vagas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Problemas e Soluções — 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Pagamento, Ingresso Digital e Interação entre Participantes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Área</a:t>
                      </a:r>
                    </a:p>
                  </a:txBody>
                  <a:tcPr marL="73152" marR="73152" marT="36576" marB="36576" anchor="ctr"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Problema</a:t>
                      </a:r>
                    </a:p>
                  </a:txBody>
                  <a:tcPr marL="73152" marR="73152" marT="36576" marB="36576" anchor="ctr"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Solução</a:t>
                      </a:r>
                    </a:p>
                  </a:txBody>
                  <a:tcPr marL="73152" marR="73152" marT="36576" marB="36576" anchor="ctr">
                    <a:solidFill>
                      <a:srgbClr val="0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Pagamento &amp; Ingresso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Compra longa → desistência no meio do caminho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Fluxo em no máximo 4 passos; pagamento por cartão ou PIX; retorno claro em cada etapa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Pagamento &amp; Ingresso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Ingresso digital não chega ou não funciona no dia do evento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Geração imediata após o pagamento; acesso mesmo sem internet; código de validação único; opção de reenvio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Pagamento &amp; Ingresso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Dados de pagamento interceptados ou armazenados inseguros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Processamento por parceiro autorizado — o app não guarda dados de cartão; comunicação criptografada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Pagamento &amp; Ingresso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Venda acima da capacidade do evento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Estoque em tempo real com bloqueio automático no limite; confirmação só após aprovação do pagamento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Interação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Dados de contato visíveis para todos → privacidade exposta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Lista só para quem tem ingresso confirmado; sem exibir e-mail/telefone; mensagens internas protegidas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Interação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Evento cancelado, mas conversas continuam disponíveis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Ocultação automática da aba de participantes e encerramento das conversas com aviso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Interação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Lista de participantes demora a atualizar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Lista e contador de confirmados atualizados em tempo real, sem recarregar a tela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B1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Problemas e Soluções — 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Gestão para Organizadores, Desempenho e Acessibilidade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Área</a:t>
                      </a:r>
                    </a:p>
                  </a:txBody>
                  <a:tcPr marL="73152" marR="73152" marT="36576" marB="36576" anchor="ctr">
                    <a:solidFill>
                      <a:srgbClr val="B14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Problema</a:t>
                      </a:r>
                    </a:p>
                  </a:txBody>
                  <a:tcPr marL="73152" marR="73152" marT="36576" marB="36576" anchor="ctr">
                    <a:solidFill>
                      <a:srgbClr val="B14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Solução</a:t>
                      </a:r>
                    </a:p>
                  </a:txBody>
                  <a:tcPr marL="73152" marR="73152" marT="36576" marB="36576" anchor="ctr">
                    <a:solidFill>
                      <a:srgbClr val="B1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Gestão (Organizador)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Não acompanha quantos ingressos venderam nem o valor arrecadado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Painel com número de vendas, valor recebido e situação de cada lote, atualizado a cada compra/cancelamento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Gestão (Organizador)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Dados do evento mudam e inscritos não são avisados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Notificação automática por app e e-mail em alterações de data, local ou valor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Gestão (Organizador)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Eventos publicados com informações incorretas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Validação antes de publicar; opção de salvar como rascunho para conferência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Desempenho &amp; Acessibilidade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App não funciona em versões antigas de celular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Compatibilidade com Android 10+ e iOS 14+; design responsivo para qualquer tamanho de tela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Desempenho &amp; Acessibilidade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Instabilidade ou queda em picos de acesso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Suporte a 10 mil usuários simultâneos; disponibilidade mínima de 99,5% ao mês; plano de contingência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Desempenho &amp; Acessibilidade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Usuário não recebe avisos importantes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Escolha do tipo e canal de aviso (app, e-mail ou ambos); opção de ativar/desativar por preferência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Especificação de Requisitos — Escopo e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Versão 1.0  •  30/09/2026  •  Equipe de Desenvolvimento / Stakeholders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1638"/>
          </a:solidFill>
          <a:ln w="15875">
            <a:solidFill>
              <a:srgbClr val="39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9FF88"/>
                </a:solidFill>
                <a:latin typeface="Arial"/>
              </a:rPr>
              <a:t>✓  Incluído no Escopo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3776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39FF88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Cadastro de participantes e organizadores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39FF88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Publicação e gerenciamento de eventos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39FF88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Busca com filtros e ordenação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39FF88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Compra de ingressos (cartão / PIX) + ingresso digital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39FF88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Interação entre participantes e notificações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161638"/>
          </a:solidFill>
          <a:ln w="15875">
            <a:solidFill>
              <a:srgbClr val="FF2D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04164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2D95"/>
                </a:solidFill>
                <a:latin typeface="Arial"/>
              </a:rPr>
              <a:t>✕  Excluído do Escopo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37852"/>
            <a:ext cx="49377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FF2D95"/>
                </a:solidFill>
                <a:latin typeface="Arial"/>
              </a:rPr>
              <a:t>▸  </a:t>
            </a:r>
            <a:r>
              <a:rPr sz="1250" dirty="0">
                <a:solidFill>
                  <a:srgbClr val="C9C9E2"/>
                </a:solidFill>
                <a:latin typeface="Arial"/>
              </a:rPr>
              <a:t>Sistema de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entrega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física</a:t>
            </a:r>
            <a:endParaRPr sz="1250" dirty="0">
              <a:solidFill>
                <a:srgbClr val="C9C9E2"/>
              </a:solidFill>
              <a:latin typeface="Arial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FF2D95"/>
                </a:solidFill>
                <a:latin typeface="Arial"/>
              </a:rPr>
              <a:t>▸ 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Processamento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financeiro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externo</a:t>
            </a:r>
            <a:endParaRPr sz="1250" dirty="0">
              <a:solidFill>
                <a:srgbClr val="C9C9E2"/>
              </a:solidFill>
              <a:latin typeface="Arial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FF2D95"/>
                </a:solidFill>
                <a:latin typeface="Arial"/>
              </a:rPr>
              <a:t>▸ 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Aplicativo</a:t>
            </a:r>
            <a:r>
              <a:rPr sz="1250" dirty="0">
                <a:solidFill>
                  <a:srgbClr val="C9C9E2"/>
                </a:solidFill>
                <a:latin typeface="Arial"/>
              </a:rPr>
              <a:t> desktop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422392" cy="3931920"/>
          </a:xfrm>
          <a:prstGeom prst="roundRect">
            <a:avLst>
              <a:gd name="adj" fmla="val 6000"/>
            </a:avLst>
          </a:prstGeom>
          <a:solidFill>
            <a:srgbClr val="161638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E5FF"/>
                </a:solidFill>
                <a:latin typeface="Arial"/>
              </a:rPr>
              <a:t>Stakeholders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65960"/>
            <a:ext cx="50292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00E5FF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Participantes (buscam e compram)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00E5FF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Organizadores (publicam e gerenciam)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>
                <a:solidFill>
                  <a:srgbClr val="00E5FF"/>
                </a:solidFill>
                <a:latin typeface="Arial"/>
              </a:rPr>
              <a:t>▸  </a:t>
            </a:r>
            <a:r>
              <a:rPr sz="1250">
                <a:solidFill>
                  <a:srgbClr val="C9C9E2"/>
                </a:solidFill>
                <a:latin typeface="Arial"/>
              </a:rPr>
              <a:t>Equipe de Desenvolvimento  •  Parceiros de Pagamento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14AFF"/>
                </a:solidFill>
                <a:latin typeface="Arial"/>
              </a:rPr>
              <a:t>Premissas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84383"/>
            <a:ext cx="5029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B14AFF"/>
                </a:solidFill>
                <a:latin typeface="Arial"/>
              </a:rPr>
              <a:t>▸ 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Usuários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possuem</a:t>
            </a:r>
            <a:r>
              <a:rPr sz="1250" dirty="0">
                <a:solidFill>
                  <a:srgbClr val="C9C9E2"/>
                </a:solidFill>
                <a:latin typeface="Arial"/>
              </a:rPr>
              <a:t> smartphone com internet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B14AFF"/>
                </a:solidFill>
                <a:latin typeface="Arial"/>
              </a:rPr>
              <a:t>▸ 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Serviços</a:t>
            </a:r>
            <a:r>
              <a:rPr sz="1250" dirty="0">
                <a:solidFill>
                  <a:srgbClr val="C9C9E2"/>
                </a:solidFill>
                <a:latin typeface="Arial"/>
              </a:rPr>
              <a:t> de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pagamento</a:t>
            </a:r>
            <a:r>
              <a:rPr sz="1250" dirty="0">
                <a:solidFill>
                  <a:srgbClr val="C9C9E2"/>
                </a:solidFill>
                <a:latin typeface="Arial"/>
              </a:rPr>
              <a:t> e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notificação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disponíveis</a:t>
            </a:r>
            <a:endParaRPr sz="1250" dirty="0">
              <a:solidFill>
                <a:srgbClr val="C9C9E2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3974755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FFD60A"/>
                </a:solidFill>
                <a:latin typeface="Arial"/>
              </a:rPr>
              <a:t>Restrições</a:t>
            </a:r>
            <a:endParaRPr sz="1600" b="1" dirty="0">
              <a:solidFill>
                <a:srgbClr val="FFD60A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4536" y="4291910"/>
            <a:ext cx="5029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FFD60A"/>
                </a:solidFill>
                <a:latin typeface="Arial"/>
              </a:rPr>
              <a:t>▸ 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Cumprimento</a:t>
            </a:r>
            <a:r>
              <a:rPr sz="1250" dirty="0">
                <a:solidFill>
                  <a:srgbClr val="C9C9E2"/>
                </a:solidFill>
                <a:latin typeface="Arial"/>
              </a:rPr>
              <a:t> da LGPD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FFD60A"/>
                </a:solidFill>
                <a:latin typeface="Arial"/>
              </a:rPr>
              <a:t>▸ 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Compatibilidade</a:t>
            </a:r>
            <a:r>
              <a:rPr sz="1250" dirty="0">
                <a:solidFill>
                  <a:srgbClr val="C9C9E2"/>
                </a:solidFill>
                <a:latin typeface="Arial"/>
              </a:rPr>
              <a:t> Android 10+ / iOS 14+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250" b="1" dirty="0">
                <a:solidFill>
                  <a:srgbClr val="FFD60A"/>
                </a:solidFill>
                <a:latin typeface="Arial"/>
              </a:rPr>
              <a:t>▸ 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Pagamentos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por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parceiro</a:t>
            </a:r>
            <a:r>
              <a:rPr sz="1250" dirty="0">
                <a:solidFill>
                  <a:srgbClr val="C9C9E2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C9C9E2"/>
                </a:solidFill>
                <a:latin typeface="Arial"/>
              </a:rPr>
              <a:t>autorizado</a:t>
            </a:r>
            <a:endParaRPr sz="1250" dirty="0">
              <a:solidFill>
                <a:srgbClr val="C9C9E2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Requisitos Funcionais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O que o sistema deve fazer — com prioridade e critério de aceite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FF2D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Descrição</a:t>
                      </a:r>
                    </a:p>
                  </a:txBody>
                  <a:tcPr marL="73152" marR="73152" marT="36576" marB="36576" anchor="ctr">
                    <a:solidFill>
                      <a:srgbClr val="FF2D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Prioridade</a:t>
                      </a:r>
                    </a:p>
                  </a:txBody>
                  <a:tcPr marL="73152" marR="73152" marT="36576" marB="36576" anchor="ctr">
                    <a:solidFill>
                      <a:srgbClr val="FF2D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Critério de Aceite (resumo)</a:t>
                      </a:r>
                    </a:p>
                  </a:txBody>
                  <a:tcPr marL="73152" marR="73152" marT="36576" marB="36576" anchor="ctr">
                    <a:solidFill>
                      <a:srgbClr val="FF2D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RF-01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Cadastro de participantes (nome, CPF, e-mail, telefone, senha)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Salva dados, envia confirmação e ativa a conta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RF-02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Cadastro de organizadores (dados pessoais/empresariais e recebimento)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Registra, notifica e habilita a publicação de eventos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RF-03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Busca de eventos por palavra-chave, categoria, data, cidade e preço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Exibe eventos compatíveis, ordenados por relevância ou data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RF-04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Visualizar detalhes do evento (descrição, local, data, valor, lote, vagas)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Info atualizada; botão de compra só aparece com vagas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RF-05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Compra de ingressos com pagamento via cartão ou PIX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Ingresso digital gerado e enviado; estoque reduzido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RF-06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Exibir quem vai participar e permitir troca de mensagens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Lista de confirmados; conversa sem expor dados pessoais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RF-07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Organizador publica e gerencia eventos, acompanhando vendas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Painel com vendas, valor arrecadado e status de cada lote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RF-08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Notificações sobre eventos salvos, compra e avisos importantes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C9C9E2"/>
                          </a:solidFill>
                          <a:latin typeface="Arial"/>
                        </a:rPr>
                        <a:t>Mensagens chegam por push/e-mail conforme preferência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Requisitos Não Funcionais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Qualidades e restrições da plataforma — com metas mensuráveis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Categoria</a:t>
                      </a:r>
                    </a:p>
                  </a:txBody>
                  <a:tcPr marL="73152" marR="73152" marT="36576" marB="36576" anchor="ctr"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73152" marR="73152" marT="36576" marB="36576" anchor="ctr">
                    <a:solidFill>
                      <a:srgbClr val="0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RNF-01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Desempenho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Tempo de resposta em buscas e navegação: carregar em até 2 segundos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RNF-02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Segurança (LGPD)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TLS/HTTPS em trânsito; AES-256 em repouso; senhas com hash irreversível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RNF-03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Disponibilidade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Mínimo de 99,5% ao mês (~3,6h de indisponibilidade/mês)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RNF-04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Usabilidade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Compra concluída em até 4 passos; primeira busca em até 3 toques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RNF-05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Compatibilidade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Android 10+ e iOS 14+; design responsivo para todos os tamanhos de tela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RNF-06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Escalabilidade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C9C9E2"/>
                          </a:solidFill>
                          <a:latin typeface="Arial"/>
                        </a:rPr>
                        <a:t>Suportar 10.000 usuários simultâneos sem degradação de desempenho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92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D60A"/>
                </a:solidFill>
                <a:latin typeface="Arial"/>
              </a:rPr>
              <a:t>Exemplos Consolidados de Aceite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0352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41324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E5FF"/>
                </a:solidFill>
                <a:latin typeface="Arial"/>
              </a:rPr>
              <a:t>Busca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Resultados compatíveis carregam em menos de 2s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530352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FF2D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541324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2D95"/>
                </a:solidFill>
                <a:latin typeface="Arial"/>
              </a:rPr>
              <a:t>Pagamento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57150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Comprovante e ingresso digital aparecem imediatamente após confirmação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5303520"/>
            <a:ext cx="3611880" cy="960120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B1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57032" y="541324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Interação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5715000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Novos confirmados aparecem sem precisar recarregar a tela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1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B1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Histórias de 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Necessidades sob a perspectiva de quem recebe valor  •  Critério INVEST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36576" marB="36576" anchor="ctr">
                    <a:solidFill>
                      <a:srgbClr val="B14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Título</a:t>
                      </a:r>
                    </a:p>
                  </a:txBody>
                  <a:tcPr marL="73152" marR="73152" marT="36576" marB="36576" anchor="ctr">
                    <a:solidFill>
                      <a:srgbClr val="B14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Narrativa (resumo)</a:t>
                      </a:r>
                    </a:p>
                  </a:txBody>
                  <a:tcPr marL="73152" marR="73152" marT="36576" marB="36576" anchor="ctr">
                    <a:solidFill>
                      <a:srgbClr val="B14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Critério de Aceite (chave)</a:t>
                      </a:r>
                    </a:p>
                  </a:txBody>
                  <a:tcPr marL="73152" marR="73152" marT="36576" marB="36576" anchor="ctr">
                    <a:solidFill>
                      <a:srgbClr val="B1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US-01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Cadastrar-se como participante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Como usuário interessado, quero me cadastrar para buscar eventos, comprar ingressos e interagir.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Validação em tempo real; CPF/e-mail duplicado → recuperação de acesso; confirmação por e-mail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US-02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Buscar e filtrar eventos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Como participante, quero buscar por palavra-chave, categoria, data, cidade e preço.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Resultados em até 2s; sem correspondência → sugestões alternativas; filtros combinados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US-03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Comprar ingresso e receber versão digital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Como participante, quero comprar com cartão ou PIX e receber o ingresso no app.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Confirmação imediata; ingresso acessível off-line; código único; estoque atualizado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US-04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Interagir com outros participantes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Como participante confirmado, quero ver quem vai e trocar mensagens antes do evento.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Lista só para confirmados; mensagens sem expor contato; cancelamento oculta a aba</a:t>
                      </a:r>
                    </a:p>
                  </a:txBody>
                  <a:tcPr marL="73152" marR="73152" marT="36576" marB="36576" anchor="ctr">
                    <a:solidFill>
                      <a:srgbClr val="1D1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US-05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Publicar e gerenciar evento (organizador)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Como organizador, quero cadastrar eventos, lotes e valores e acompanhar vendas em tempo real.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9C9E2"/>
                          </a:solidFill>
                          <a:latin typeface="Arial"/>
                        </a:rPr>
                        <a:t>Validação antes de publicar; painel em tempo real; alterações notificam inscritos</a:t>
                      </a:r>
                    </a:p>
                  </a:txBody>
                  <a:tcPr marL="73152" marR="73152" marT="36576" marB="36576" anchor="ctr">
                    <a:solidFill>
                      <a:srgbClr val="16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577840"/>
            <a:ext cx="11183112" cy="685800"/>
          </a:xfrm>
          <a:prstGeom prst="roundRect">
            <a:avLst>
              <a:gd name="adj" fmla="val 10000"/>
            </a:avLst>
          </a:prstGeom>
          <a:solidFill>
            <a:srgbClr val="161638"/>
          </a:solidFill>
          <a:ln w="15875">
            <a:solidFill>
              <a:srgbClr val="FFD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742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D60A"/>
                </a:solidFill>
                <a:latin typeface="Arial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0533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C9C9E2"/>
                </a:solidFill>
                <a:latin typeface="Arial"/>
              </a:rPr>
              <a:t>Independente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42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D60A"/>
                </a:solidFill>
                <a:latin typeface="Arial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60533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C9C9E2"/>
                </a:solidFill>
                <a:latin typeface="Arial"/>
              </a:rPr>
              <a:t>Negociável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742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D60A"/>
                </a:solidFill>
                <a:latin typeface="Arial"/>
              </a:rPr>
              <a:t>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60533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C9C9E2"/>
                </a:solidFill>
                <a:latin typeface="Arial"/>
              </a:rPr>
              <a:t>Valiosa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742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D60A"/>
                </a:solidFill>
                <a:latin typeface="Arial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60533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C9C9E2"/>
                </a:solidFill>
                <a:latin typeface="Arial"/>
              </a:rPr>
              <a:t>Estimável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742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D60A"/>
                </a:solidFill>
                <a:latin typeface="Arial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60533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C9C9E2"/>
                </a:solidFill>
                <a:latin typeface="Arial"/>
              </a:rPr>
              <a:t>Pequena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57424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D60A"/>
                </a:solidFill>
                <a:latin typeface="Arial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60533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C9C9E2"/>
                </a:solidFill>
                <a:latin typeface="Arial"/>
              </a:rPr>
              <a:t>Testável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Protótipo e Identidade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Conceito: ingresso digital com marcador de localização — estilo neon moderno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Arial"/>
              </a:rPr>
              <a:t>Marca VK CLICK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C9C9E2"/>
                </a:solidFill>
                <a:latin typeface="Arial"/>
              </a:rPr>
              <a:t>Neon vibrante · moderno · dinâmico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C9C9E2"/>
                </a:solidFill>
                <a:latin typeface="Arial"/>
              </a:rPr>
              <a:t>Paleta: ciano, magenta e roxo sobre fundo escuro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63040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463040"/>
            <a:ext cx="91440" cy="8412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19472" y="15544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E5FF"/>
                </a:solidFill>
                <a:latin typeface="Arial"/>
              </a:rPr>
              <a:t>Chat entre participantes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87452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Mensagens protegidas sem expor contato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432304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39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2432304"/>
            <a:ext cx="91440" cy="841248"/>
          </a:xfrm>
          <a:prstGeom prst="rect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9472" y="2523744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FF88"/>
                </a:solidFill>
                <a:latin typeface="Arial"/>
              </a:rPr>
              <a:t>Cashback &amp; Cortesia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84378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Incentivos e benefícios para usuários ativos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01568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FF2D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63440" y="3401568"/>
            <a:ext cx="91440" cy="841248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19472" y="349300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2D95"/>
                </a:solidFill>
                <a:latin typeface="Arial"/>
              </a:rPr>
              <a:t>Transferência de Ingressos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381304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Revenda segura entre usuários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370832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FFD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4370832"/>
            <a:ext cx="91440" cy="841248"/>
          </a:xfrm>
          <a:prstGeom prst="rect">
            <a:avLst/>
          </a:prstGeom>
          <a:solidFill>
            <a:srgbClr val="FFD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9472" y="4462272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D60A"/>
                </a:solidFill>
                <a:latin typeface="Arial"/>
              </a:rPr>
              <a:t>Central de Ajuda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478231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Suporte direto no aplicativo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340096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B1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63440" y="5340096"/>
            <a:ext cx="91440" cy="841248"/>
          </a:xfrm>
          <a:prstGeom prst="rect">
            <a:avLst/>
          </a:prstGeom>
          <a:solidFill>
            <a:srgbClr val="B1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9472" y="5431536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14AFF"/>
                </a:solidFill>
                <a:latin typeface="Arial"/>
              </a:rPr>
              <a:t>Rede de Amigos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575157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Indique amigos e amplie sua rede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1463040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66760" y="1463040"/>
            <a:ext cx="91440" cy="841248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22792" y="1554480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E5FF"/>
                </a:solidFill>
                <a:latin typeface="Arial"/>
              </a:rPr>
              <a:t>Perfil do Usuário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187452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Histórico de ingressos e preferências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2432304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FF2D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66760" y="2432304"/>
            <a:ext cx="91440" cy="841248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22792" y="2523744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2D95"/>
                </a:solidFill>
                <a:latin typeface="Arial"/>
              </a:rPr>
              <a:t>Detalhe do Evento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2843784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Descrição, lotes, vagas e botão de compra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3401568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39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366760" y="3401568"/>
            <a:ext cx="91440" cy="841248"/>
          </a:xfrm>
          <a:prstGeom prst="rect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22792" y="3493008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9FF88"/>
                </a:solidFill>
                <a:latin typeface="Arial"/>
              </a:rPr>
              <a:t>Ingresso Digital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381304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Acesso off-line com código de validação único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4370832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B14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66760" y="4370832"/>
            <a:ext cx="91440" cy="841248"/>
          </a:xfrm>
          <a:prstGeom prst="rect">
            <a:avLst/>
          </a:prstGeom>
          <a:solidFill>
            <a:srgbClr val="B14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22792" y="4462272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14AFF"/>
                </a:solidFill>
                <a:latin typeface="Arial"/>
              </a:rPr>
              <a:t>Painel do Organizador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22792" y="4782312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Vendas, receita e status de lotes em tempo real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66760" y="5340096"/>
            <a:ext cx="3520440" cy="841248"/>
          </a:xfrm>
          <a:prstGeom prst="roundRect">
            <a:avLst>
              <a:gd name="adj" fmla="val 8000"/>
            </a:avLst>
          </a:prstGeom>
          <a:solidFill>
            <a:srgbClr val="161638"/>
          </a:solidFill>
          <a:ln w="15875">
            <a:solidFill>
              <a:srgbClr val="FFD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366760" y="5340096"/>
            <a:ext cx="91440" cy="841248"/>
          </a:xfrm>
          <a:prstGeom prst="rect">
            <a:avLst/>
          </a:prstGeom>
          <a:solidFill>
            <a:srgbClr val="FFD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22792" y="5431536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D60A"/>
                </a:solidFill>
                <a:latin typeface="Arial"/>
              </a:rPr>
              <a:t>Notificações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22792" y="575157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9C9E2"/>
                </a:solidFill>
                <a:latin typeface="Arial"/>
              </a:rPr>
              <a:t>Push e e-mail configuráveis por preferência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10 / 12</a:t>
            </a:r>
          </a:p>
        </p:txBody>
      </p:sp>
      <p:pic>
        <p:nvPicPr>
          <p:cNvPr id="52" name="Imagem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20" y="1685522"/>
            <a:ext cx="3191320" cy="28864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502920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Arial"/>
              </a:rPr>
              <a:t>Resumo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9611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9E"/>
                </a:solidFill>
                <a:latin typeface="Arial"/>
              </a:rPr>
              <a:t>Consolidação da documentação e roteiro de evolução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840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B14AFF"/>
                </a:solidFill>
                <a:latin typeface="Arial"/>
              </a:rPr>
              <a:t>VK CLICK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161638"/>
          </a:solidFill>
          <a:ln w="15875">
            <a:solidFill>
              <a:srgbClr val="39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39FF88"/>
                </a:solidFill>
                <a:latin typeface="Arial"/>
              </a:rPr>
              <a:t>✓  Documentação Consolidada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39FF88"/>
                </a:solidFill>
                <a:latin typeface="Arial"/>
              </a:rPr>
              <a:t>▸  </a:t>
            </a:r>
            <a:r>
              <a:rPr sz="1300">
                <a:solidFill>
                  <a:srgbClr val="C9C9E2"/>
                </a:solidFill>
                <a:latin typeface="Arial"/>
              </a:rPr>
              <a:t>Necessidades e dores dos usuários mapeadas (19 problemas)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39FF88"/>
                </a:solidFill>
                <a:latin typeface="Arial"/>
              </a:rPr>
              <a:t>▸  </a:t>
            </a:r>
            <a:r>
              <a:rPr sz="1300">
                <a:solidFill>
                  <a:srgbClr val="C9C9E2"/>
                </a:solidFill>
                <a:latin typeface="Arial"/>
              </a:rPr>
              <a:t>Soluções definidas e alinhadas aos requisitos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39FF88"/>
                </a:solidFill>
                <a:latin typeface="Arial"/>
              </a:rPr>
              <a:t>▸  </a:t>
            </a:r>
            <a:r>
              <a:rPr sz="1300">
                <a:solidFill>
                  <a:srgbClr val="C9C9E2"/>
                </a:solidFill>
                <a:latin typeface="Arial"/>
              </a:rPr>
              <a:t>8 Requisitos Funcionais com critérios de aceite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39FF88"/>
                </a:solidFill>
                <a:latin typeface="Arial"/>
              </a:rPr>
              <a:t>▸  </a:t>
            </a:r>
            <a:r>
              <a:rPr sz="1300">
                <a:solidFill>
                  <a:srgbClr val="C9C9E2"/>
                </a:solidFill>
                <a:latin typeface="Arial"/>
              </a:rPr>
              <a:t>6 Requisitos Não Funcionais com metas mensuráveis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39FF88"/>
                </a:solidFill>
                <a:latin typeface="Arial"/>
              </a:rPr>
              <a:t>▸  </a:t>
            </a:r>
            <a:r>
              <a:rPr sz="1300">
                <a:solidFill>
                  <a:srgbClr val="C9C9E2"/>
                </a:solidFill>
                <a:latin typeface="Arial"/>
              </a:rPr>
              <a:t>5 Histórias de Usuário validadas pelo critério INVEST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39FF88"/>
                </a:solidFill>
                <a:latin typeface="Arial"/>
              </a:rPr>
              <a:t>▸  </a:t>
            </a:r>
            <a:r>
              <a:rPr sz="1300">
                <a:solidFill>
                  <a:srgbClr val="C9C9E2"/>
                </a:solidFill>
                <a:latin typeface="Arial"/>
              </a:rPr>
              <a:t>Identidade visual neon e protótipo de telas definidos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422392" cy="4572000"/>
          </a:xfrm>
          <a:prstGeom prst="roundRect">
            <a:avLst>
              <a:gd name="adj" fmla="val 6000"/>
            </a:avLst>
          </a:prstGeom>
          <a:solidFill>
            <a:srgbClr val="161638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E5FF"/>
                </a:solidFill>
                <a:latin typeface="Arial"/>
              </a:rPr>
              <a:t>➜  Próximas Etapas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194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23113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B24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24028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C9E2"/>
                </a:solidFill>
                <a:latin typeface="Arial"/>
              </a:rPr>
              <a:t>Refinamento do protótipo de interface e navegação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8163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852928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B24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86207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C9E2"/>
                </a:solidFill>
                <a:latin typeface="Arial"/>
              </a:rPr>
              <a:t>Planejamento do backlog e divisão em sprints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4381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47472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B24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83864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C9E2"/>
                </a:solidFill>
                <a:latin typeface="Arial"/>
              </a:rPr>
              <a:t>Desenvolvimento das funcionalidades core (RF-01 a RF-05)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0599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096512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B24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105656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C9E2"/>
                </a:solidFill>
                <a:latin typeface="Arial"/>
              </a:rPr>
              <a:t>Integração com parceiro de pagamento e notificações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6817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4718304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B24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7274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C9E2"/>
                </a:solidFill>
                <a:latin typeface="Arial"/>
              </a:rPr>
              <a:t>Testes de usabilidade, performance e conformidade LGPD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5303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5340096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B24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34924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C9E2"/>
                </a:solidFill>
                <a:latin typeface="Arial"/>
              </a:rPr>
              <a:t>Lançamento da versão inicial e coleta de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Projeto VK CLICK — Aplicativo de Eventos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A7A9E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333" y="512685"/>
            <a:ext cx="8792607" cy="583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96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2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00E5FF"/>
                </a:solidFill>
                <a:latin typeface="Arial"/>
              </a:rPr>
              <a:t>VK CLICK — Acessibilidade, conexão e experiência em cada evento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C9C9E2"/>
                </a:solidFill>
                <a:latin typeface="Arial"/>
              </a:rPr>
              <a:t>Dúvidas? Estamos à disposição para apresentar o protótipo e detalhar cada etapa.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7A7A9E"/>
                </a:solidFill>
                <a:latin typeface="Arial"/>
              </a:rPr>
              <a:t>Equipe de Desenvolvimento  •  Projeto VK CLICK  •  2026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777" y="768063"/>
            <a:ext cx="3191320" cy="28864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1791</Words>
  <Application>Microsoft Office PowerPoint</Application>
  <PresentationFormat>Widescreen</PresentationFormat>
  <Paragraphs>299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Diego de Oliveira</dc:creator>
  <cp:keywords/>
  <dc:description>generated using python-pptx</dc:description>
  <cp:lastModifiedBy>Diego de Oliveira</cp:lastModifiedBy>
  <cp:revision>5</cp:revision>
  <dcterms:created xsi:type="dcterms:W3CDTF">2013-01-27T09:14:16Z</dcterms:created>
  <dcterms:modified xsi:type="dcterms:W3CDTF">2026-10-05T18:41:41Z</dcterms:modified>
  <cp:category/>
</cp:coreProperties>
</file>